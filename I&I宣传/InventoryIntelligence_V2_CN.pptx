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654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A8CC">
              <a:alpha val="12000"/>
            </a:srgbClr>
          </a:solidFill>
          <a:ln w="12700">
            <a:solidFill>
              <a:srgbClr val="00A8C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10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驱动的智能库存管理平台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2706624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inventoryintelligence.online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核心痛点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库存管理对中小企业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而言早已千疮百孔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2011680"/>
            <a:ext cx="2651760" cy="2651760"/>
          </a:xfrm>
          <a:prstGeom prst="rect">
            <a:avLst/>
          </a:prstGeom>
          <a:solidFill>
            <a:srgbClr val="0F2240"/>
          </a:solidFill>
          <a:ln w="12700">
            <a:solidFill>
              <a:srgbClr val="FF444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断货直接损失现金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B0C4D8"/>
                </a:solidFill>
                <a:latin typeface="+mn-ea"/>
                <a:cs typeface="Calibri" pitchFamily="34" charset="-120"/>
              </a:rPr>
              <a:t>长期断货</a:t>
            </a:r>
            <a:r>
              <a:rPr lang="zh-CN" altLang="en-US" sz="1200" dirty="0">
                <a:solidFill>
                  <a:srgbClr val="B0C4D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B0C4D8"/>
                </a:solidFill>
                <a:latin typeface="+mn-ea"/>
                <a:cs typeface="Calibri" pitchFamily="34" charset="-120"/>
              </a:rPr>
              <a:t>=</a:t>
            </a:r>
            <a:r>
              <a:rPr lang="zh-CN" altLang="en-US" sz="1200" dirty="0">
                <a:solidFill>
                  <a:srgbClr val="B0C4D8"/>
                </a:solidFill>
                <a:latin typeface="+mn-ea"/>
                <a:cs typeface="Calibri" pitchFamily="34" charset="-120"/>
              </a:rPr>
              <a:t> 每月亏损</a:t>
            </a:r>
            <a:endParaRPr lang="en-US" altLang="zh-CN" sz="1200" dirty="0">
              <a:solidFill>
                <a:srgbClr val="B0C4D8"/>
              </a:solidFill>
              <a:latin typeface="+mn-ea"/>
              <a:cs typeface="Calibri" pitchFamily="34" charset="-120"/>
            </a:endParaRPr>
          </a:p>
          <a:p>
            <a:r>
              <a:rPr lang="zh-CN" altLang="en-US" sz="1200" dirty="0">
                <a:solidFill>
                  <a:srgbClr val="B0C4D8"/>
                </a:solidFill>
                <a:latin typeface="+mn-ea"/>
                <a:cs typeface="Calibri" pitchFamily="34" charset="-120"/>
              </a:rPr>
              <a:t>问题不是没库存，而是不知道什么时候改补</a:t>
            </a:r>
            <a:endParaRPr lang="en-US" sz="1200" dirty="0">
              <a:latin typeface="+mn-e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0" y="2011680"/>
            <a:ext cx="2651760" cy="2651760"/>
          </a:xfrm>
          <a:prstGeom prst="rect">
            <a:avLst/>
          </a:prstGeom>
          <a:solidFill>
            <a:srgbClr val="0F2240"/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1488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库存占用资金过高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3756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B0C4D8"/>
                </a:solidFill>
                <a:latin typeface="+mn-ea"/>
                <a:cs typeface="Calibri" pitchFamily="34" charset="-120"/>
              </a:rPr>
              <a:t>库存过剩</a:t>
            </a:r>
            <a:r>
              <a:rPr lang="zh-CN" altLang="en-US" sz="1200" dirty="0">
                <a:solidFill>
                  <a:srgbClr val="B0C4D8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zh-CN" sz="1200" dirty="0">
                <a:solidFill>
                  <a:srgbClr val="B0C4D8"/>
                </a:solidFill>
                <a:latin typeface="+mn-ea"/>
                <a:cs typeface="Calibri" pitchFamily="34" charset="-120"/>
              </a:rPr>
              <a:t>=</a:t>
            </a:r>
            <a:r>
              <a:rPr lang="zh-CN" altLang="en-US" sz="1200" dirty="0">
                <a:solidFill>
                  <a:srgbClr val="B0C4D8"/>
                </a:solidFill>
                <a:latin typeface="+mn-ea"/>
                <a:cs typeface="Calibri" pitchFamily="34" charset="-120"/>
              </a:rPr>
              <a:t> 占用资金</a:t>
            </a:r>
            <a:endParaRPr lang="en-US" altLang="zh-CN" sz="1200" dirty="0">
              <a:solidFill>
                <a:srgbClr val="B0C4D8"/>
              </a:solidFill>
              <a:latin typeface="+mn-ea"/>
              <a:cs typeface="Calibri" pitchFamily="34" charset="-120"/>
            </a:endParaRPr>
          </a:p>
          <a:p>
            <a:r>
              <a:rPr lang="zh-CN" altLang="en-US" sz="1200" dirty="0">
                <a:solidFill>
                  <a:srgbClr val="B0C4D8"/>
                </a:solidFill>
                <a:latin typeface="+mn-ea"/>
                <a:cs typeface="Calibri" pitchFamily="34" charset="-120"/>
              </a:rPr>
              <a:t>库存不是资产，而是被锁住的资金</a:t>
            </a:r>
            <a:endParaRPr lang="en-US" sz="1200" dirty="0">
              <a:latin typeface="+mn-e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126480" y="2011680"/>
            <a:ext cx="2651760" cy="2651760"/>
          </a:xfrm>
          <a:prstGeom prst="rect">
            <a:avLst/>
          </a:prstGeom>
          <a:solidFill>
            <a:srgbClr val="0F2240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1488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chemeClr val="bg1"/>
                </a:solidFill>
              </a:rPr>
              <a:t>短时间做出正确的决策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16" name="Text 11"/>
          <p:cNvSpPr/>
          <p:nvPr/>
        </p:nvSpPr>
        <p:spPr>
          <a:xfrm>
            <a:off x="626364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哪些该补</a:t>
            </a:r>
            <a:r>
              <a:rPr lang="zh-CN" alt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altLang="zh-CN" sz="1000" dirty="0">
              <a:solidFill>
                <a:srgbClr val="B0C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zh-CN" altLang="en-US" sz="1000" dirty="0">
                <a:solidFill>
                  <a:srgbClr val="B0C4D8"/>
                </a:solidFill>
                <a:latin typeface="Calibri" pitchFamily="34" charset="0"/>
                <a:cs typeface="Calibri" pitchFamily="34" charset="-120"/>
              </a:rPr>
              <a:t>哪些改清？</a:t>
            </a:r>
            <a:endParaRPr lang="en-US" altLang="zh-CN" sz="1000" dirty="0">
              <a:solidFill>
                <a:srgbClr val="B0C4D8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zh-CN" altLang="en-US" sz="1000" dirty="0">
                <a:solidFill>
                  <a:srgbClr val="B0C4D8"/>
                </a:solidFill>
                <a:latin typeface="Calibri" pitchFamily="34" charset="0"/>
                <a:cs typeface="Calibri" pitchFamily="34" charset="-120"/>
              </a:rPr>
              <a:t>哪些该优先？</a:t>
            </a:r>
            <a:endParaRPr lang="en-US" altLang="zh-CN" sz="1000" dirty="0">
              <a:solidFill>
                <a:srgbClr val="B0C4D8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000" dirty="0">
              <a:solidFill>
                <a:srgbClr val="B0C4D8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zh-CN" altLang="en-US" sz="1000" dirty="0">
                <a:solidFill>
                  <a:srgbClr val="B0C4D8"/>
                </a:solidFill>
                <a:latin typeface="Calibri" pitchFamily="34" charset="0"/>
                <a:cs typeface="Calibri" pitchFamily="34" charset="-120"/>
              </a:rPr>
              <a:t>所有决策依赖数据，从源头解决问题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0" y="502920"/>
            <a:ext cx="3383280" cy="1371600"/>
          </a:xfrm>
          <a:prstGeom prst="rect">
            <a:avLst/>
          </a:prstGeom>
          <a:solidFill>
            <a:srgbClr val="112647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577840" y="594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8万亿元人民币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5577840" y="1170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全球每年因库存失控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损失的总价值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减少断货  ·  释放现金  ·  自动决策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AI 决策引擎，替代人工判断——让每一个 SKU 的补货、清仓、预警，都有数据支撑。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43200" cy="160020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2743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373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719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断货率降低 80%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13969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预判缺货时间窗口，自动触发补货建议，彻底告别"等到断货才发现"。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1572768"/>
            <a:ext cx="2743200" cy="1600200"/>
          </a:xfrm>
          <a:prstGeom prst="rect">
            <a:avLst/>
          </a:prstGeom>
          <a:solidFill>
            <a:srgbClr val="0F2240"/>
          </a:solidFill>
          <a:ln w="12700">
            <a:solidFill>
              <a:srgbClr val="00E5A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572768"/>
            <a:ext cx="27432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7373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1719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库存周转提升 30%+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37560" y="213969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ABC/XYZ 精益分级，锁定压钱的滞销品，加速资金流动。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1572768"/>
            <a:ext cx="2743200" cy="1600200"/>
          </a:xfrm>
          <a:prstGeom prst="rect">
            <a:avLst/>
          </a:prstGeom>
          <a:solidFill>
            <a:srgbClr val="0F2240"/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26480" y="1572768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7373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7190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决策时间缩短 90%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63640" y="213969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从手工 Excel 分析数天，到 AI 30 秒生成行动清单，直接发给管理层。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74320" y="3310128"/>
            <a:ext cx="2743200" cy="1600200"/>
          </a:xfrm>
          <a:prstGeom prst="rect">
            <a:avLst/>
          </a:prstGeom>
          <a:solidFill>
            <a:srgbClr val="0F2240"/>
          </a:solidFill>
          <a:ln w="12700">
            <a:solidFill>
              <a:srgbClr val="FFD7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274320" y="3310128"/>
            <a:ext cx="27432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47472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3456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呆滞风险降低 ¥千万级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11480" y="387705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实时识别在库超 1 年的高风险批次，资金占用可视化，优先处置。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0400" y="3310128"/>
            <a:ext cx="2743200" cy="1600200"/>
          </a:xfrm>
          <a:prstGeom prst="rect">
            <a:avLst/>
          </a:prstGeom>
          <a:solidFill>
            <a:srgbClr val="0F2240"/>
          </a:solidFill>
          <a:ln w="12700">
            <a:solidFill>
              <a:srgbClr val="FF950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3200400" y="3310128"/>
            <a:ext cx="2743200" cy="5486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47472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49040" y="3456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预警覆盖 100% SKU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37560" y="387705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SKU 自动配置安全库存阈值，断货、积压双向实时预警。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126480" y="3310128"/>
            <a:ext cx="2743200" cy="1600200"/>
          </a:xfrm>
          <a:prstGeom prst="rect">
            <a:avLst/>
          </a:prstGeom>
          <a:solidFill>
            <a:srgbClr val="0F2240"/>
          </a:solidFill>
          <a:ln w="12700">
            <a:solidFill>
              <a:srgbClr val="7FE7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6126480" y="3310128"/>
            <a:ext cx="2743200" cy="54864"/>
          </a:xfrm>
          <a:prstGeom prst="rect">
            <a:avLst/>
          </a:prstGeom>
          <a:solidFill>
            <a:srgbClr val="7FE7FF"/>
          </a:solidFill>
          <a:ln w="12700">
            <a:solidFill>
              <a:srgbClr val="7F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47472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3456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 0 人工，5 分钟出炉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63640" y="387705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自动生成可呈报老板或客户的专业库存分析报告，中英双语。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真实案例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上线 90 天，数据说话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23360" cy="3703320"/>
          </a:xfrm>
          <a:prstGeom prst="rect">
            <a:avLst/>
          </a:prstGeom>
          <a:solidFill>
            <a:srgbClr val="0F2240"/>
          </a:solidFill>
          <a:ln w="12700">
            <a:solidFill>
              <a:srgbClr val="F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2336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接入前  ·  某制造客户（704 SKU）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缺货 SKU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 个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18105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每月损失销售额约 ¥18 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高库存 SKU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503 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25877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占用流动资金超 ¥4,000 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呆滞批次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5478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215 个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11680" y="33649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在库超 2 年，风险资金 ¥957 万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决策方式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3251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纯 Excel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1680" y="4142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每月人工分析耗时 3–5 天</a:t>
            </a:r>
            <a:endParaRPr lang="en-US" sz="9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283464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315968" y="3200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优化后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800600" y="1234440"/>
            <a:ext cx="4023360" cy="3703320"/>
          </a:xfrm>
          <a:prstGeom prst="rect">
            <a:avLst/>
          </a:prstGeom>
          <a:solidFill>
            <a:srgbClr val="112647"/>
          </a:solidFill>
          <a:ln w="12700">
            <a:solidFill>
              <a:srgbClr val="00E5A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00600" y="1234440"/>
            <a:ext cx="402336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接入后  ·  90 天成果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956048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断货率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56048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82%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8122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系统提前 3 周预警，补货不再被动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956048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库存资金占用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956048" y="2770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¥620 万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81228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清仓计划释放超 600 万流动资金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956048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库存周转率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956048" y="3547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34%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681228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优先策略驱动结构性优化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956048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分析决策时间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956048" y="4325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90%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681228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5 天压缩到 30 分钟 AI 报告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库存现状诊断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704 个 SKU，超过 43% 处于非最优状态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这不是个别问题——这是系统性的库存结构失衡。数据实时揭示每一个风险节点。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011680" cy="2468880"/>
          </a:xfrm>
          <a:prstGeom prst="rect">
            <a:avLst/>
          </a:prstGeom>
          <a:solidFill>
            <a:srgbClr val="0F2240"/>
          </a:solidFill>
          <a:ln w="12700">
            <a:solidFill>
              <a:srgbClr val="F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201168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缺货 SKU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9077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每个缺货 SKU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平均月损 ¥8,000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349300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4444">
              <a:alpha val="25000"/>
            </a:srgbClr>
          </a:solidFill>
          <a:ln w="12700">
            <a:solidFill>
              <a:srgbClr val="F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50592" y="1572768"/>
            <a:ext cx="2011680" cy="2468880"/>
          </a:xfrm>
          <a:prstGeom prst="rect">
            <a:avLst/>
          </a:prstGeom>
          <a:solidFill>
            <a:srgbClr val="0F2240"/>
          </a:solidFill>
          <a:ln w="12700">
            <a:solidFill>
              <a:srgbClr val="FF95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50592" y="1572768"/>
            <a:ext cx="2011680" cy="54864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50592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2450592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50592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低库存预警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50592" y="29077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周内即将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面临断货风险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53512" y="349300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9500">
              <a:alpha val="25000"/>
            </a:srgbClr>
          </a:solidFill>
          <a:ln w="12700">
            <a:solidFill>
              <a:srgbClr val="FF95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53512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1572768"/>
            <a:ext cx="2011680" cy="2468880"/>
          </a:xfrm>
          <a:prstGeom prst="rect">
            <a:avLst/>
          </a:prstGeom>
          <a:solidFill>
            <a:srgbClr val="0F2240"/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26864" y="1572768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26864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503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4626864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26864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高库存积压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26864" y="29077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合计占用资金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 ¥3,800 万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9784" y="349300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9784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03136" y="1572768"/>
            <a:ext cx="2011680" cy="2468880"/>
          </a:xfrm>
          <a:prstGeom prst="rect">
            <a:avLst/>
          </a:prstGeom>
          <a:solidFill>
            <a:srgbClr val="0F2240"/>
          </a:solidFill>
          <a:ln w="12700">
            <a:solidFill>
              <a:srgbClr val="FFD7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03136" y="1572768"/>
            <a:ext cx="201168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03136" y="16916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215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6803136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3136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呆滞库存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03136" y="29077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在库≥2年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占用资金 ¥957 万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06056" y="349300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FD700">
              <a:alpha val="2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06056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12647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关键洞察：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645920" y="425196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当前库存可支撑 13 个月的销售——行业正常水位仅 2–4 个月。过剩库存意味着 ¥4,000 万资金被"锁死"，无法用于新产品投入或市场扩张。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能力壁垒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三重护城河，竞争对手难以复制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754880" cy="1115568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54864" cy="11155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350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级 AI 自动决策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" y="170078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SKU 独立预测 + 分级 + 行动建议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98424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" y="194767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不只是报表，而是直接输出「补多少、清什么」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231136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" y="219456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决策闭环：识别 → 预测 → 建议 → 报告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96312"/>
            <a:ext cx="4754880" cy="1115568"/>
          </a:xfrm>
          <a:prstGeom prst="rect">
            <a:avLst/>
          </a:prstGeom>
          <a:solidFill>
            <a:srgbClr val="0F2240"/>
          </a:solidFill>
          <a:ln w="12700">
            <a:solidFill>
              <a:srgbClr val="00E5A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496312"/>
            <a:ext cx="54864" cy="11155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56946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25694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数据累积形成飞轮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971800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" y="293522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历史销售 + 库存 + 批次数据持续沉淀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218688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" y="318211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模型随数据增长自动优化，越用越准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465576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7512" y="342900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客户切换成本高——数据资产无法迁移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730752"/>
            <a:ext cx="4754880" cy="1115568"/>
          </a:xfrm>
          <a:prstGeom prst="rect">
            <a:avLst/>
          </a:prstGeom>
          <a:solidFill>
            <a:srgbClr val="0F2240"/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730752"/>
            <a:ext cx="54864" cy="11155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38039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" y="38039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端到端管理闭环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20624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7512" y="4169664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从数据上传到 AI 报告，全流程一个平台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45312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7512" y="44165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 IT 集成，中小企业 1 天完成部署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470001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7512" y="4663440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双语支持，适配中国出口制造业场景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57800" y="1234440"/>
            <a:ext cx="3566160" cy="3584448"/>
          </a:xfrm>
          <a:prstGeom prst="rect">
            <a:avLst/>
          </a:prstGeom>
          <a:solidFill>
            <a:srgbClr val="112647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13248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技术底座（一行总结）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13248" y="17190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Supabase + Claude Sonnet + GPT-4.1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企业级基础架构，初创公司的迭代速度。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13248" y="2423160"/>
            <a:ext cx="3291840" cy="45720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13248" y="2423160"/>
            <a:ext cx="4572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唯一支持 ABC/XYZ + AI Copilot 组合的 SaaS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13248" y="2971800"/>
            <a:ext cx="3291840" cy="457200"/>
          </a:xfrm>
          <a:prstGeom prst="rect">
            <a:avLst/>
          </a:prstGeom>
          <a:solidFill>
            <a:srgbClr val="0F2240"/>
          </a:solidFill>
          <a:ln w="12700">
            <a:solidFill>
              <a:srgbClr val="00E5A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13248" y="2971800"/>
            <a:ext cx="45720" cy="457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32120" y="3044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种预测模型集成，中位数输出降低误判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13248" y="3520440"/>
            <a:ext cx="3291840" cy="457200"/>
          </a:xfrm>
          <a:prstGeom prst="rect">
            <a:avLst/>
          </a:prstGeom>
          <a:solidFill>
            <a:srgbClr val="0F2240"/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13248" y="3520440"/>
            <a:ext cx="4572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32120" y="3593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报告引擎，0 人工编辑直接发送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13248" y="4069080"/>
            <a:ext cx="3291840" cy="457200"/>
          </a:xfrm>
          <a:prstGeom prst="rect">
            <a:avLst/>
          </a:prstGeom>
          <a:solidFill>
            <a:srgbClr val="0F2240"/>
          </a:solidFill>
          <a:ln w="12700">
            <a:solidFill>
              <a:srgbClr val="FFD7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413248" y="4069080"/>
            <a:ext cx="45720" cy="4572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532120" y="4142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呆滞库存资金风险实时可视化（行业首创）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市场机遇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千亿市场，亟待填补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41148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【核心洞察】90% 中小企业仍在用 Excel 管理库存  ·  AI 库存决策领域至今无巨头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3794760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54864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77393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" y="2066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$25B+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74520" y="19019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全球库存管理软件市场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3794760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633472"/>
            <a:ext cx="54864" cy="80467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" y="268833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" y="29809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$4B+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28163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面向中小制造业的 AI 库存分析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547872"/>
            <a:ext cx="3794760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FF95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547872"/>
            <a:ext cx="54864" cy="80467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360273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" y="38953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$300M+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74520" y="37307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中国中小出口商与分销商（3–5年）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43400" y="1691640"/>
            <a:ext cx="4434840" cy="2697480"/>
          </a:xfrm>
          <a:prstGeom prst="rect">
            <a:avLst/>
          </a:prstGeom>
          <a:solidFill>
            <a:srgbClr val="112647"/>
          </a:solidFill>
          <a:ln w="12700">
            <a:solidFill>
              <a:srgbClr val="00E5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26280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为何是现在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230428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240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大模型成本 2 年内下降 10 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2779776"/>
            <a:ext cx="146304" cy="146304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715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中小企业加速上云，决策数字化需求激增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3255264"/>
            <a:ext cx="146304" cy="146304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191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后疫情供应链危机——韧性管理成刚需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3730752"/>
            <a:ext cx="146304" cy="1463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6667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原生库存 SaaS 领域至今无主导者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4206240"/>
            <a:ext cx="146304" cy="14630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41422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中国制造业 45 亿 SKU，绝大多数仍靠 Excel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4480560"/>
            <a:ext cx="4434840" cy="502920"/>
          </a:xfrm>
          <a:prstGeom prst="rect">
            <a:avLst/>
          </a:prstGeom>
          <a:solidFill>
            <a:srgbClr val="0F2240"/>
          </a:solidFill>
          <a:ln w="12700">
            <a:solidFill>
              <a:srgbClr val="FF95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80560" y="44805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"先到者定义市场，后到者只能跟随价格战。"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订阅收入 + 客户 ROI 双轮驱动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51760" cy="3611880"/>
          </a:xfrm>
          <a:prstGeom prst="rect">
            <a:avLst/>
          </a:prstGeom>
          <a:solidFill>
            <a:srgbClr val="0F2240"/>
          </a:solidFill>
          <a:ln w="12700">
            <a:solidFill>
              <a:srgbClr val="6B8BA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17739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8BA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¥999/月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个用户  ·  200 SKU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 AI Copilot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990088"/>
            <a:ext cx="2377440" cy="749808"/>
          </a:xfrm>
          <a:prstGeom prst="rect">
            <a:avLst/>
          </a:prstGeom>
          <a:solidFill>
            <a:srgbClr val="6B8BA4">
              <a:alpha val="15000"/>
            </a:srgbClr>
          </a:solidFill>
          <a:ln w="12700">
            <a:solidFill>
              <a:srgbClr val="6B8BA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 ROI 估算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月节省成本 ≈ ¥2–3 万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系统费 ¥999  ·  ROI &gt; 20x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72968" y="1261872"/>
            <a:ext cx="2651760" cy="3611880"/>
          </a:xfrm>
          <a:prstGeom prst="rect">
            <a:avLst/>
          </a:prstGeom>
          <a:solidFill>
            <a:srgbClr val="112647"/>
          </a:solidFill>
          <a:ln w="12700">
            <a:solidFill>
              <a:srgbClr val="00D4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1261872"/>
            <a:ext cx="265176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72968" y="13167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最受欢迎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2968" y="1609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成长版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72968" y="19933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¥2,999/月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10128" y="2523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个用户  ·  1,000 SKU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2816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AI 套件 + 报告中心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0128" y="3209544"/>
            <a:ext cx="2377440" cy="749808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0128" y="32369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 ROI 估算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10128" y="34381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月节省成本 ≈ ¥15–20 万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系统费 ¥2,999  ·  ROI &gt; 50x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25896" y="1261872"/>
            <a:ext cx="2651760" cy="3611880"/>
          </a:xfrm>
          <a:prstGeom prst="rect">
            <a:avLst/>
          </a:prstGeom>
          <a:solidFill>
            <a:srgbClr val="0F2240"/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25896" y="1389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企业版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025896" y="17739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1对1定制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63056" y="2304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无限用户  ·  无限 SKU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63056" y="25968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专属 AI + API 接入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63056" y="2990088"/>
            <a:ext cx="2377440" cy="749808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63056" y="3017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 ROI 估算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63056" y="32186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月节省成本 ≈ ¥50 万+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定制报价  ·  ROI &gt; 100x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0F2240"/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额外收入：专业入驻服务 · 数据迁移 · 定制集成 · 白标授权（ERP/财务合作伙伴）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FE7FF"/>
          </a:solidFill>
          <a:ln w="12700">
            <a:solidFill>
              <a:srgbClr val="7F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F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竞争格局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传统系统记录数据，我们做决策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19456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6B8B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功能对比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1261872"/>
            <a:ext cx="201168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12618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库存智能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44568" y="1261872"/>
            <a:ext cx="146304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6B8B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44568" y="1261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Oracle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25896" y="1261872"/>
            <a:ext cx="146304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6B8B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25896" y="1261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Cin7 / 金蝶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07224" y="1261872"/>
            <a:ext cx="164592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6B8B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07224" y="12618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表格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691640"/>
            <a:ext cx="219456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169164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对话决策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1691640"/>
            <a:ext cx="201168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14600" y="1691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44568" y="1691640"/>
            <a:ext cx="146304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44568" y="16916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25896" y="1691640"/>
            <a:ext cx="146304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25896" y="16916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07224" y="1691640"/>
            <a:ext cx="164592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07224" y="169164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112264"/>
            <a:ext cx="219456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11226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多模型需求预测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14600" y="2112264"/>
            <a:ext cx="201168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14600" y="21122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44568" y="2112264"/>
            <a:ext cx="146304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44568" y="21122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25896" y="2112264"/>
            <a:ext cx="146304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25896" y="21122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07224" y="2112264"/>
            <a:ext cx="164592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07224" y="211226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532888"/>
            <a:ext cx="219456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25328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ABC/XYZ 策略矩阵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14600" y="2532888"/>
            <a:ext cx="201168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14600" y="25328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44568" y="2532888"/>
            <a:ext cx="146304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44568" y="25328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25896" y="2532888"/>
            <a:ext cx="146304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25896" y="25328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07224" y="2532888"/>
            <a:ext cx="164592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07224" y="25328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2953512"/>
            <a:ext cx="219456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295351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呆滞库存 AI 风险预警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14600" y="2953512"/>
            <a:ext cx="201168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514600" y="29535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44568" y="2953512"/>
            <a:ext cx="146304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44568" y="295351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25896" y="2953512"/>
            <a:ext cx="146304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025896" y="295351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07224" y="2953512"/>
            <a:ext cx="164592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07224" y="29535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3374136"/>
            <a:ext cx="219456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33741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自动生成管理报告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514600" y="3374136"/>
            <a:ext cx="201168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514600" y="33741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44568" y="3374136"/>
            <a:ext cx="146304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544568" y="33741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025896" y="3374136"/>
            <a:ext cx="146304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025896" y="33741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507224" y="3374136"/>
            <a:ext cx="164592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507224" y="33741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794760"/>
            <a:ext cx="219456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74320" y="379476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中小企业定价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514600" y="3794760"/>
            <a:ext cx="201168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514600" y="3794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44568" y="3794760"/>
            <a:ext cx="146304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544568" y="37947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企业才有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025896" y="3794760"/>
            <a:ext cx="146304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025896" y="37947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507224" y="3794760"/>
            <a:ext cx="1645920" cy="402336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507224" y="37947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无AI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4215384"/>
            <a:ext cx="219456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74320" y="42153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中英文双语支持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514600" y="4215384"/>
            <a:ext cx="2011680" cy="402336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514600" y="42153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44568" y="4215384"/>
            <a:ext cx="146304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544568" y="421538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025896" y="4215384"/>
            <a:ext cx="146304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025896" y="421538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507224" y="4215384"/>
            <a:ext cx="1645920" cy="402336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507224" y="421538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74320" y="4754880"/>
            <a:ext cx="8595360" cy="30175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65760" y="475488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核心差异：SAP 帮你记录问题  ·  Excel 让你发现问题  ·  库存智能替你解决问题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融资需求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共同重塑库存智能的未来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0" y="1170432"/>
            <a:ext cx="4572000" cy="960120"/>
          </a:xfrm>
          <a:prstGeom prst="rect">
            <a:avLst/>
          </a:prstGeom>
          <a:solidFill>
            <a:srgbClr val="112647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1234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寻求 ¥500 万 — ¥1,000 万 种子轮融资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 轮  ·  18 个月资金储备  ·  资金用途：销售 40% · 技术 30% · 客户成功 20% · 运营 10%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3931920" cy="1828800"/>
          </a:xfrm>
          <a:prstGeom prst="rect">
            <a:avLst/>
          </a:prstGeom>
          <a:solidFill>
            <a:srgbClr val="0F2240"/>
          </a:solidFill>
          <a:ln w="12700">
            <a:solidFill>
              <a:srgbClr val="00E5A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393192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已验证里程碑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产品已开发完成，线上可访问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处理真实数据：34,780 行 · 704 SKU · 12+ 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3467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验证核心场景：断货预警 / 呆滞识别 / AI 报告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694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端到端 ROI 已量化，年度价值 ¥800 万+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2240280"/>
            <a:ext cx="3931920" cy="182880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92040" y="2240280"/>
            <a:ext cx="39319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个月 Roadmap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633472"/>
            <a:ext cx="566928" cy="25603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2633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650992" y="26334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签约首批 10 家付费客户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2980944"/>
            <a:ext cx="566928" cy="256032"/>
          </a:xfrm>
          <a:prstGeom prst="rect">
            <a:avLst/>
          </a:prstGeom>
          <a:solidFill>
            <a:srgbClr val="00E5A0">
              <a:alpha val="25000"/>
            </a:srgbClr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9809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650992" y="29809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突破 ¥100 万，NPS &gt; 50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0" y="3328416"/>
            <a:ext cx="566928" cy="256032"/>
          </a:xfrm>
          <a:prstGeom prst="rect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33284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650992" y="33284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付费客户达 30 家，ARR ¥300 万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3675888"/>
            <a:ext cx="566928" cy="256032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36758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50992" y="36758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 ERP 白标市场，ARR ¥1,000 万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0" y="45537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inventoryintelligence.online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让我们一起，构建库存管理的未来。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790</Words>
  <Application>Microsoft Macintosh PowerPoint</Application>
  <PresentationFormat>On-screen Show (16:9)</PresentationFormat>
  <Paragraphs>236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Intelligence - Investor Pitch</dc:title>
  <dc:subject>PptxGenJS Presentation</dc:subject>
  <dc:creator>PptxGenJS</dc:creator>
  <cp:lastModifiedBy>!deleted! Fu, !deleted! Qicheng (ext)</cp:lastModifiedBy>
  <cp:revision>2</cp:revision>
  <dcterms:created xsi:type="dcterms:W3CDTF">2026-03-23T01:45:31Z</dcterms:created>
  <dcterms:modified xsi:type="dcterms:W3CDTF">2026-03-23T01:53:15Z</dcterms:modified>
</cp:coreProperties>
</file>